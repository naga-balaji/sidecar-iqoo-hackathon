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Sidecar turns the loaner iQOO into a private inference plane for the laptop next to it. Everything in this deck is designed so the camera, the microphone, the on-device model and the Office Kit bridge are load-bearing, not bolted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framing matters: this is not another meeting summariser. It is the category of work that has zero AI coverage today because of data policy, not because of capability.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named user, one concrete hour of her day. The three completed city battles all rewarded a specific person over a generic professional.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Office Kit clipboard sync and file transfer are OS-level, so the phone only has to watch its own clipboard and a folder. No dependency on the phone seeing the laptop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Rehearse the byte counter. The single most memorable thing a judge can watch is a phone that is provably offline answering questions about a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Remove the camera, the microphone, the local model or the bridge and Sidecar stops working. That is the test an idea has to pass at this hackathon.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scored evaluation rounds mean something must be demoable by Saturday evening. The clipboard round trip is the first thing built for that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21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9AA5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iQOO HACKATHON 2026  ·  BATTLE 04 HYDERABAD  ·  PRODUCTIVITY  ·  WORKING PROFESSIONAL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-100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Sidecar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private AI co-processor for your work laptop.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quantised model runs on the iQOO’s Hexagon NPU. Office Kit is the wire. Your laptop gets a real assistant for the documents it is not allowed to send anywhere — and the whole demo runs in airplane mode.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720840" y="2377440"/>
            <a:ext cx="1874520" cy="1188720"/>
          </a:xfrm>
          <a:prstGeom prst="roundRect">
            <a:avLst>
              <a:gd name="adj" fmla="val 4615"/>
            </a:avLst>
          </a:prstGeom>
          <a:solidFill>
            <a:srgbClr val="1A212D"/>
          </a:solidFill>
          <a:ln w="12700">
            <a:solidFill>
              <a:srgbClr val="3CC98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20840" y="2450592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CC9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6720840" y="312724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20" kern="0" dirty="0">
                <a:solidFill>
                  <a:srgbClr val="9AA5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BYTES LEAVE THE DESK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8046720" cy="0"/>
          </a:xfrm>
          <a:prstGeom prst="line">
            <a:avLst/>
          </a:prstGeom>
          <a:noFill/>
          <a:ln w="12700">
            <a:solidFill>
              <a:srgbClr val="303B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114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9AA5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EDGE RUNNER  ·  D8LYC2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4114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5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 idea submission  ·  22 September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6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useful AI is banned exactly where the work matters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910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tool a working engineer reaches for is a browser tab that ships the employer’s data to someone else’s servers. So the highest-value documents on the desk get no help at all.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212848"/>
            <a:ext cx="3886200" cy="1051560"/>
          </a:xfrm>
          <a:prstGeom prst="roundRect">
            <a:avLst>
              <a:gd name="adj" fmla="val 4348"/>
            </a:avLst>
          </a:prstGeom>
          <a:solidFill>
            <a:srgbClr val="1A212D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2487168"/>
            <a:ext cx="310896" cy="310896"/>
          </a:xfrm>
          <a:prstGeom prst="ellipse">
            <a:avLst/>
          </a:prstGeom>
          <a:solidFill>
            <a:srgbClr val="242D3C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2514600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3774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contracts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67004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NDA-bound. Cannot be pasted into a chat tab, so nobody reads the fine print twice.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00600" y="2212848"/>
            <a:ext cx="3886200" cy="1051560"/>
          </a:xfrm>
          <a:prstGeom prst="roundRect">
            <a:avLst>
              <a:gd name="adj" fmla="val 4348"/>
            </a:avLst>
          </a:prstGeom>
          <a:solidFill>
            <a:srgbClr val="1A212D"/>
          </a:solidFill>
          <a:ln/>
        </p:spPr>
      </p:sp>
      <p:sp>
        <p:nvSpPr>
          <p:cNvPr id="11" name="Shape 9"/>
          <p:cNvSpPr/>
          <p:nvPr/>
        </p:nvSpPr>
        <p:spPr>
          <a:xfrm>
            <a:off x="5001768" y="2487168"/>
            <a:ext cx="310896" cy="310896"/>
          </a:xfrm>
          <a:prstGeom prst="ellipse">
            <a:avLst/>
          </a:prstGeom>
          <a:solidFill>
            <a:srgbClr val="242D3C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01768" y="2514600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40680" y="23774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source code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267004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by policy on most enterprise laptops in Hyderabad.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465576"/>
            <a:ext cx="3886200" cy="1051560"/>
          </a:xfrm>
          <a:prstGeom prst="roundRect">
            <a:avLst>
              <a:gd name="adj" fmla="val 4348"/>
            </a:avLst>
          </a:prstGeom>
          <a:solidFill>
            <a:srgbClr val="1A212D"/>
          </a:solidFill>
          <a:ln/>
        </p:spPr>
      </p:sp>
      <p:sp>
        <p:nvSpPr>
          <p:cNvPr id="16" name="Shape 14"/>
          <p:cNvSpPr/>
          <p:nvPr/>
        </p:nvSpPr>
        <p:spPr>
          <a:xfrm>
            <a:off x="658368" y="3739896"/>
            <a:ext cx="310896" cy="310896"/>
          </a:xfrm>
          <a:prstGeom prst="ellipse">
            <a:avLst/>
          </a:prstGeom>
          <a:solidFill>
            <a:srgbClr val="242D3C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76732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6301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calls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922776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to a transcription service moves personal data offshore.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00600" y="3465576"/>
            <a:ext cx="3886200" cy="1051560"/>
          </a:xfrm>
          <a:prstGeom prst="roundRect">
            <a:avLst>
              <a:gd name="adj" fmla="val 4348"/>
            </a:avLst>
          </a:prstGeom>
          <a:solidFill>
            <a:srgbClr val="1A212D"/>
          </a:solidFill>
          <a:ln/>
        </p:spPr>
      </p:sp>
      <p:sp>
        <p:nvSpPr>
          <p:cNvPr id="21" name="Shape 19"/>
          <p:cNvSpPr/>
          <p:nvPr/>
        </p:nvSpPr>
        <p:spPr>
          <a:xfrm>
            <a:off x="5001768" y="3739896"/>
            <a:ext cx="310896" cy="310896"/>
          </a:xfrm>
          <a:prstGeom prst="ellipse">
            <a:avLst/>
          </a:prstGeom>
          <a:solidFill>
            <a:srgbClr val="242D3C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01768" y="376732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40680" y="36301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Unreleased specs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5440680" y="3922776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document where a second reader would actually catch something.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CC9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phone with an NPU is the only hardware on that desk that can run a real model with no network path at all.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6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USER AND THE MOMENT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Priya, a delivery lead in Hyderabad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898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a 40-page client MSA on a laptop that blocks every AI tool, with a status call in an hour.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977640" cy="2743200"/>
          </a:xfrm>
          <a:prstGeom prst="roundRect">
            <a:avLst>
              <a:gd name="adj" fmla="val 1667"/>
            </a:avLst>
          </a:prstGeom>
          <a:solidFill>
            <a:srgbClr val="1A21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2011680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9AA5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77440"/>
            <a:ext cx="34655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all 40 pages herself, twice.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Retypes the payment terms into a mail to legal.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the indemnity clause on page 31.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Photographs the printed annexure and forgets about it.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828800"/>
            <a:ext cx="3977640" cy="2743200"/>
          </a:xfrm>
          <a:prstGeom prst="roundRect">
            <a:avLst>
              <a:gd name="adj" fmla="val 1667"/>
            </a:avLst>
          </a:prstGeom>
          <a:solidFill>
            <a:srgbClr val="242D3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965192" y="2011680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CC9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SIDECAR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965192" y="2377440"/>
            <a:ext cx="34655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and copies a clause; the risk summary is back in her clipboard in about two seconds.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the PDF into the Office Kit folder and asks out loud what the exit terms are.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the phone camera at the printed annexure that cannot be copied.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laptop never opened a network connection to do any of it.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6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laptop. Same policy. The model just moved to a device she already owns.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6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phone is the model. Office Kit is the API.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2286000" cy="1508760"/>
          </a:xfrm>
          <a:prstGeom prst="roundRect">
            <a:avLst>
              <a:gd name="adj" fmla="val 3030"/>
            </a:avLst>
          </a:prstGeom>
          <a:solidFill>
            <a:srgbClr val="1A212D"/>
          </a:solidFill>
          <a:ln w="12700">
            <a:solidFill>
              <a:srgbClr val="303B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7830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60" kern="0" dirty="0">
                <a:solidFill>
                  <a:srgbClr val="9AA5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LAPTOP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happens here.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software,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network calls.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34640" y="2057400"/>
            <a:ext cx="1005840" cy="0"/>
          </a:xfrm>
          <a:prstGeom prst="line">
            <a:avLst/>
          </a:prstGeom>
          <a:noFill/>
          <a:ln w="22225">
            <a:solidFill>
              <a:srgbClr val="FF6A1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34640" y="2697480"/>
            <a:ext cx="1005840" cy="0"/>
          </a:xfrm>
          <a:prstGeom prst="line">
            <a:avLst/>
          </a:prstGeom>
          <a:noFill/>
          <a:ln w="22225">
            <a:solidFill>
              <a:srgbClr val="3CC98D"/>
            </a:solidFill>
            <a:prstDash val="solid"/>
            <a:headEnd type="triangle"/>
          </a:ln>
        </p:spPr>
      </p:sp>
      <p:sp>
        <p:nvSpPr>
          <p:cNvPr id="9" name="Text 7"/>
          <p:cNvSpPr txBox="1"/>
          <p:nvPr/>
        </p:nvSpPr>
        <p:spPr>
          <a:xfrm>
            <a:off x="2788920" y="29718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FF6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OFFICE KIT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31729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A5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clipboard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33375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A5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transfer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931920" y="1188720"/>
            <a:ext cx="2834640" cy="3063240"/>
          </a:xfrm>
          <a:prstGeom prst="roundRect">
            <a:avLst>
              <a:gd name="adj" fmla="val 2258"/>
            </a:avLst>
          </a:prstGeom>
          <a:solidFill>
            <a:srgbClr val="1A212D"/>
          </a:solidFill>
          <a:ln w="15875">
            <a:solidFill>
              <a:srgbClr val="FF6A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31920" y="13258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40" kern="0" dirty="0">
                <a:solidFill>
                  <a:srgbClr val="FF6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iQOO  ·  ON-DEVICE ONLY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0" y="1664208"/>
            <a:ext cx="2468880" cy="484632"/>
          </a:xfrm>
          <a:prstGeom prst="roundRect">
            <a:avLst>
              <a:gd name="adj" fmla="val 7547"/>
            </a:avLst>
          </a:prstGeom>
          <a:solidFill>
            <a:srgbClr val="242D3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224528" y="17099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Whisper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224528" y="19110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in, spoken answers out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0" y="2240280"/>
            <a:ext cx="2468880" cy="484632"/>
          </a:xfrm>
          <a:prstGeom prst="roundRect">
            <a:avLst>
              <a:gd name="adj" fmla="val 7547"/>
            </a:avLst>
          </a:prstGeom>
          <a:solidFill>
            <a:srgbClr val="242D3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224528" y="22860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Kit OCR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224528" y="2487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and screenshots to text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0" y="2816352"/>
            <a:ext cx="2468880" cy="484632"/>
          </a:xfrm>
          <a:prstGeom prst="roundRect">
            <a:avLst>
              <a:gd name="adj" fmla="val 7547"/>
            </a:avLst>
          </a:prstGeom>
          <a:solidFill>
            <a:srgbClr val="242D3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224528" y="286207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3.2 3B · INT4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224528" y="3063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summarise, extract, redline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0" y="3392424"/>
            <a:ext cx="2468880" cy="484632"/>
          </a:xfrm>
          <a:prstGeom prst="roundRect">
            <a:avLst>
              <a:gd name="adj" fmla="val 7547"/>
            </a:avLst>
          </a:prstGeom>
          <a:solidFill>
            <a:srgbClr val="242D3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224528" y="343814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embeddings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224528" y="36393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index, never syncs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269480" y="1600200"/>
            <a:ext cx="1417320" cy="640080"/>
          </a:xfrm>
          <a:prstGeom prst="roundRect">
            <a:avLst>
              <a:gd name="adj" fmla="val 5714"/>
            </a:avLst>
          </a:prstGeom>
          <a:solidFill>
            <a:srgbClr val="1A212D"/>
          </a:solidFill>
          <a:ln w="12700">
            <a:solidFill>
              <a:srgbClr val="303B4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60920" y="169164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3CC9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CAMERA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7360920" y="190195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cannot be copied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12280" y="1920240"/>
            <a:ext cx="411480" cy="0"/>
          </a:xfrm>
          <a:prstGeom prst="line">
            <a:avLst/>
          </a:prstGeom>
          <a:noFill/>
          <a:ln w="19050">
            <a:solidFill>
              <a:srgbClr val="3CC98D"/>
            </a:solidFill>
            <a:prstDash val="solid"/>
            <a:headEnd type="triangle"/>
          </a:ln>
        </p:spPr>
      </p:sp>
      <p:sp>
        <p:nvSpPr>
          <p:cNvPr id="30" name="Shape 28"/>
          <p:cNvSpPr/>
          <p:nvPr/>
        </p:nvSpPr>
        <p:spPr>
          <a:xfrm>
            <a:off x="7269480" y="2468880"/>
            <a:ext cx="1417320" cy="640080"/>
          </a:xfrm>
          <a:prstGeom prst="roundRect">
            <a:avLst>
              <a:gd name="adj" fmla="val 5714"/>
            </a:avLst>
          </a:prstGeom>
          <a:solidFill>
            <a:srgbClr val="1A212D"/>
          </a:solidFill>
          <a:ln w="12700">
            <a:solidFill>
              <a:srgbClr val="303B4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60920" y="256032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3CC9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MICROPHONE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7360920" y="27706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hands-free questions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812280" y="2788920"/>
            <a:ext cx="411480" cy="0"/>
          </a:xfrm>
          <a:prstGeom prst="line">
            <a:avLst/>
          </a:prstGeom>
          <a:noFill/>
          <a:ln w="19050">
            <a:solidFill>
              <a:srgbClr val="3CC98D"/>
            </a:solidFill>
            <a:prstDash val="solid"/>
            <a:headEnd type="triangle"/>
          </a:ln>
        </p:spPr>
      </p:sp>
      <p:sp>
        <p:nvSpPr>
          <p:cNvPr id="34" name="Shape 32"/>
          <p:cNvSpPr/>
          <p:nvPr/>
        </p:nvSpPr>
        <p:spPr>
          <a:xfrm>
            <a:off x="3931920" y="4389120"/>
            <a:ext cx="2834640" cy="384048"/>
          </a:xfrm>
          <a:prstGeom prst="roundRect">
            <a:avLst>
              <a:gd name="adj" fmla="val 9524"/>
            </a:avLst>
          </a:prstGeom>
          <a:solidFill>
            <a:srgbClr val="242D3C"/>
          </a:solidFill>
          <a:ln w="12700">
            <a:solidFill>
              <a:srgbClr val="3CC98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931920" y="446227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CC9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Hexagon NPU  ·  ONNX Runtime + QNN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349240" y="4261104"/>
            <a:ext cx="0" cy="109728"/>
          </a:xfrm>
          <a:prstGeom prst="line">
            <a:avLst/>
          </a:prstGeom>
          <a:noFill/>
          <a:ln w="19050">
            <a:solidFill>
              <a:srgbClr val="3CC98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57200" y="39776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React Native with ExecuTorch. CPU path first so it demonstrably works, hot model ported to the NPU on Sunday morning.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6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DEMO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Airplane mode is on before the pitch starts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beats, three minutes, one live byte counter on screen the whole time reading zero.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965960" cy="2331720"/>
          </a:xfrm>
          <a:prstGeom prst="roundRect">
            <a:avLst>
              <a:gd name="adj" fmla="val 2326"/>
            </a:avLst>
          </a:prstGeom>
          <a:solidFill>
            <a:srgbClr val="1A212D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2048256"/>
            <a:ext cx="402336" cy="402336"/>
          </a:xfrm>
          <a:prstGeom prst="ellipse">
            <a:avLst/>
          </a:prstGeom>
          <a:solidFill>
            <a:srgbClr val="FF6A1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210312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2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560320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the cage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3063240"/>
            <a:ext cx="15636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Airplane mode toggled on stage. A network monitor stays visible for the whole pitch. Nothing can reach a server.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33472" y="1828800"/>
            <a:ext cx="1965960" cy="2331720"/>
          </a:xfrm>
          <a:prstGeom prst="roundRect">
            <a:avLst>
              <a:gd name="adj" fmla="val 2326"/>
            </a:avLst>
          </a:prstGeom>
          <a:solidFill>
            <a:srgbClr val="1A212D"/>
          </a:solidFill>
          <a:ln/>
        </p:spPr>
      </p:sp>
      <p:sp>
        <p:nvSpPr>
          <p:cNvPr id="11" name="Shape 9"/>
          <p:cNvSpPr/>
          <p:nvPr/>
        </p:nvSpPr>
        <p:spPr>
          <a:xfrm>
            <a:off x="2834640" y="2048256"/>
            <a:ext cx="402336" cy="402336"/>
          </a:xfrm>
          <a:prstGeom prst="ellipse">
            <a:avLst/>
          </a:prstGeom>
          <a:solidFill>
            <a:srgbClr val="FF6A1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834640" y="210312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2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2560320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clipboard round trip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2834640" y="3063240"/>
            <a:ext cx="15636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an indemnity clause on the laptop. About two seconds later the obligations and the risk flag are in the laptop clipboard.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09744" y="1828800"/>
            <a:ext cx="1965960" cy="2331720"/>
          </a:xfrm>
          <a:prstGeom prst="roundRect">
            <a:avLst>
              <a:gd name="adj" fmla="val 2326"/>
            </a:avLst>
          </a:prstGeom>
          <a:solidFill>
            <a:srgbClr val="1A212D"/>
          </a:solidFill>
          <a:ln/>
        </p:spPr>
      </p:sp>
      <p:sp>
        <p:nvSpPr>
          <p:cNvPr id="16" name="Shape 14"/>
          <p:cNvSpPr/>
          <p:nvPr/>
        </p:nvSpPr>
        <p:spPr>
          <a:xfrm>
            <a:off x="5010912" y="2048256"/>
            <a:ext cx="402336" cy="402336"/>
          </a:xfrm>
          <a:prstGeom prst="ellipse">
            <a:avLst/>
          </a:prstGeom>
          <a:solidFill>
            <a:srgbClr val="FF6A1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10912" y="210312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2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010912" y="2560320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camera path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010912" y="3063240"/>
            <a:ext cx="15636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the phone at a printed annexure nobody can copy-paste. OCR feeds the same local model; the answer is spoken aloud.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986016" y="1828800"/>
            <a:ext cx="1965960" cy="2331720"/>
          </a:xfrm>
          <a:prstGeom prst="roundRect">
            <a:avLst>
              <a:gd name="adj" fmla="val 2326"/>
            </a:avLst>
          </a:prstGeom>
          <a:solidFill>
            <a:srgbClr val="1A212D"/>
          </a:solidFill>
          <a:ln/>
        </p:spPr>
      </p:sp>
      <p:sp>
        <p:nvSpPr>
          <p:cNvPr id="21" name="Shape 19"/>
          <p:cNvSpPr/>
          <p:nvPr/>
        </p:nvSpPr>
        <p:spPr>
          <a:xfrm>
            <a:off x="7187184" y="2048256"/>
            <a:ext cx="402336" cy="402336"/>
          </a:xfrm>
          <a:prstGeom prst="ellipse">
            <a:avLst/>
          </a:prstGeom>
          <a:solidFill>
            <a:srgbClr val="FF6A1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187184" y="210312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2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187184" y="2560320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memory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187184" y="3063240"/>
            <a:ext cx="15636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 that only makes sense if it remembers the first document. The local index answers. Still zero bytes.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CC9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beat exercises a scored counter: camera, microphone, on-device inference and the Office Kit bridge.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6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SCORES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quarter of the rubric is counted, not judged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the six dimensions are scored from HackTracker device data. Sidecar earns them through its core loop rather than through features added at hour 28.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57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product quality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880360" y="2139696"/>
            <a:ext cx="2194560" cy="118872"/>
          </a:xfrm>
          <a:prstGeom prst="rect">
            <a:avLst/>
          </a:prstGeom>
          <a:solidFill>
            <a:srgbClr val="242D3C"/>
          </a:solidFill>
          <a:ln/>
        </p:spPr>
      </p:sp>
      <p:sp>
        <p:nvSpPr>
          <p:cNvPr id="7" name="Shape 5"/>
          <p:cNvSpPr/>
          <p:nvPr/>
        </p:nvSpPr>
        <p:spPr>
          <a:xfrm>
            <a:off x="2880360" y="2139696"/>
            <a:ext cx="2194560" cy="118872"/>
          </a:xfrm>
          <a:prstGeom prst="rect">
            <a:avLst/>
          </a:prstGeom>
          <a:solidFill>
            <a:srgbClr val="9AA5B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184648" y="20574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30%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806440" y="205740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she would keep using on Monday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4780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Novelty and impact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880360" y="2560320"/>
            <a:ext cx="2194560" cy="118872"/>
          </a:xfrm>
          <a:prstGeom prst="rect">
            <a:avLst/>
          </a:prstGeom>
          <a:solidFill>
            <a:srgbClr val="242D3C"/>
          </a:solidFill>
          <a:ln/>
        </p:spPr>
      </p:sp>
      <p:sp>
        <p:nvSpPr>
          <p:cNvPr id="12" name="Shape 10"/>
          <p:cNvSpPr/>
          <p:nvPr/>
        </p:nvSpPr>
        <p:spPr>
          <a:xfrm>
            <a:off x="2880360" y="2560320"/>
            <a:ext cx="1463040" cy="118872"/>
          </a:xfrm>
          <a:prstGeom prst="rect">
            <a:avLst/>
          </a:prstGeom>
          <a:solidFill>
            <a:srgbClr val="9AA5B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184648" y="24780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20%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806440" y="2478024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as a trusted inference plane for a PC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8986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CC9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phone use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880360" y="2980944"/>
            <a:ext cx="2194560" cy="118872"/>
          </a:xfrm>
          <a:prstGeom prst="rect">
            <a:avLst/>
          </a:prstGeom>
          <a:solidFill>
            <a:srgbClr val="242D3C"/>
          </a:solidFill>
          <a:ln/>
        </p:spPr>
      </p:sp>
      <p:sp>
        <p:nvSpPr>
          <p:cNvPr id="17" name="Shape 15"/>
          <p:cNvSpPr/>
          <p:nvPr/>
        </p:nvSpPr>
        <p:spPr>
          <a:xfrm>
            <a:off x="2880360" y="2980944"/>
            <a:ext cx="1097280" cy="118872"/>
          </a:xfrm>
          <a:prstGeom prst="rect">
            <a:avLst/>
          </a:prstGeom>
          <a:solidFill>
            <a:srgbClr val="3CC98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184648" y="2898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15%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806440" y="289864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Camera, mic and NPU are the input path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3192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depth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880360" y="3401568"/>
            <a:ext cx="2194560" cy="118872"/>
          </a:xfrm>
          <a:prstGeom prst="rect">
            <a:avLst/>
          </a:prstGeom>
          <a:solidFill>
            <a:srgbClr val="242D3C"/>
          </a:solidFill>
          <a:ln/>
        </p:spPr>
      </p:sp>
      <p:sp>
        <p:nvSpPr>
          <p:cNvPr id="22" name="Shape 20"/>
          <p:cNvSpPr/>
          <p:nvPr/>
        </p:nvSpPr>
        <p:spPr>
          <a:xfrm>
            <a:off x="2880360" y="3401568"/>
            <a:ext cx="1097280" cy="118872"/>
          </a:xfrm>
          <a:prstGeom prst="rect">
            <a:avLst/>
          </a:prstGeom>
          <a:solidFill>
            <a:srgbClr val="9AA5B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184648" y="33192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15%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806440" y="331927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Quantisation, QNN, thermals, latency budget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373989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CC9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Kit usage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2880360" y="3822192"/>
            <a:ext cx="2194560" cy="118872"/>
          </a:xfrm>
          <a:prstGeom prst="rect">
            <a:avLst/>
          </a:prstGeom>
          <a:solidFill>
            <a:srgbClr val="242D3C"/>
          </a:solidFill>
          <a:ln/>
        </p:spPr>
      </p:sp>
      <p:sp>
        <p:nvSpPr>
          <p:cNvPr id="27" name="Shape 25"/>
          <p:cNvSpPr/>
          <p:nvPr/>
        </p:nvSpPr>
        <p:spPr>
          <a:xfrm>
            <a:off x="2880360" y="3822192"/>
            <a:ext cx="731520" cy="118872"/>
          </a:xfrm>
          <a:prstGeom prst="rect">
            <a:avLst/>
          </a:prstGeom>
          <a:solidFill>
            <a:srgbClr val="3CC98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184648" y="373989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10%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806440" y="3739896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 is the product, not a convenience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160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and presentation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2880360" y="4242816"/>
            <a:ext cx="2194560" cy="118872"/>
          </a:xfrm>
          <a:prstGeom prst="rect">
            <a:avLst/>
          </a:prstGeom>
          <a:solidFill>
            <a:srgbClr val="242D3C"/>
          </a:solidFill>
          <a:ln/>
        </p:spPr>
      </p:sp>
      <p:sp>
        <p:nvSpPr>
          <p:cNvPr id="32" name="Shape 30"/>
          <p:cNvSpPr/>
          <p:nvPr/>
        </p:nvSpPr>
        <p:spPr>
          <a:xfrm>
            <a:off x="2880360" y="4242816"/>
            <a:ext cx="731520" cy="118872"/>
          </a:xfrm>
          <a:prstGeom prst="rect">
            <a:avLst/>
          </a:prstGeom>
          <a:solidFill>
            <a:srgbClr val="9AA5B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184648" y="4160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10%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806440" y="416052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Airplane mode, one live counter, four beats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355080" y="1280160"/>
            <a:ext cx="2331720" cy="658368"/>
          </a:xfrm>
          <a:prstGeom prst="roundRect">
            <a:avLst>
              <a:gd name="adj" fmla="val 6944"/>
            </a:avLst>
          </a:prstGeom>
          <a:solidFill>
            <a:srgbClr val="1A212D"/>
          </a:solidFill>
          <a:ln w="12700">
            <a:solidFill>
              <a:srgbClr val="3CC98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55080" y="1325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CC9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2200" dirty="0"/>
          </a:p>
        </p:txBody>
      </p:sp>
      <p:sp>
        <p:nvSpPr>
          <p:cNvPr id="37" name="Text 35"/>
          <p:cNvSpPr txBox="1"/>
          <p:nvPr/>
        </p:nvSpPr>
        <p:spPr>
          <a:xfrm>
            <a:off x="6355080" y="167335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20" kern="0" dirty="0">
                <a:solidFill>
                  <a:srgbClr val="9AA5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SCORED BY DEVICE DATA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5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iQOO Hackathon 2026 Guide &amp; Rules, published weighting.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6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THIRTY HOURS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ships by each checkpoint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46304" cy="146304"/>
          </a:xfrm>
          <a:prstGeom prst="ellipse">
            <a:avLst/>
          </a:prstGeom>
          <a:solidFill>
            <a:srgbClr val="FF6A1A"/>
          </a:solidFill>
          <a:ln/>
        </p:spPr>
      </p:sp>
      <p:sp>
        <p:nvSpPr>
          <p:cNvPr id="5" name="Shape 3"/>
          <p:cNvSpPr/>
          <p:nvPr/>
        </p:nvSpPr>
        <p:spPr>
          <a:xfrm>
            <a:off x="576072" y="1682496"/>
            <a:ext cx="0" cy="379476"/>
          </a:xfrm>
          <a:prstGeom prst="line">
            <a:avLst/>
          </a:prstGeom>
          <a:noFill/>
          <a:ln w="12700">
            <a:solidFill>
              <a:srgbClr val="303B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FF6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 11:00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14356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Clock starts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143560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loads on-device and answers one hardcoded prompt. Nothing else matters until this works.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061972"/>
            <a:ext cx="146304" cy="146304"/>
          </a:xfrm>
          <a:prstGeom prst="ellipse">
            <a:avLst/>
          </a:prstGeom>
          <a:solidFill>
            <a:srgbClr val="3CC98D"/>
          </a:solidFill>
          <a:ln/>
        </p:spPr>
      </p:sp>
      <p:sp>
        <p:nvSpPr>
          <p:cNvPr id="10" name="Shape 8"/>
          <p:cNvSpPr/>
          <p:nvPr/>
        </p:nvSpPr>
        <p:spPr>
          <a:xfrm>
            <a:off x="576072" y="2208276"/>
            <a:ext cx="0" cy="379476"/>
          </a:xfrm>
          <a:prstGeom prst="line">
            <a:avLst/>
          </a:prstGeom>
          <a:noFill/>
          <a:ln w="12700">
            <a:solidFill>
              <a:srgbClr val="303B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19888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3CC9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 19:00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1874520" y="19613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one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19613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Clipboard round trip end to end. Copy on the laptop, summary back on the laptop. Demoable on its own.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2587752"/>
            <a:ext cx="146304" cy="146304"/>
          </a:xfrm>
          <a:prstGeom prst="ellipse">
            <a:avLst/>
          </a:prstGeom>
          <a:solidFill>
            <a:srgbClr val="FF6A1A"/>
          </a:solidFill>
          <a:ln/>
        </p:spPr>
      </p:sp>
      <p:sp>
        <p:nvSpPr>
          <p:cNvPr id="15" name="Shape 13"/>
          <p:cNvSpPr/>
          <p:nvPr/>
        </p:nvSpPr>
        <p:spPr>
          <a:xfrm>
            <a:off x="576072" y="2734056"/>
            <a:ext cx="0" cy="379476"/>
          </a:xfrm>
          <a:prstGeom prst="line">
            <a:avLst/>
          </a:prstGeom>
          <a:noFill/>
          <a:ln w="12700">
            <a:solidFill>
              <a:srgbClr val="303B4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25146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FF6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 23:00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1874520" y="24871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Light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248716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Phone-only window. Camera plus OCR path, built and tested without the laptop.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113532"/>
            <a:ext cx="146304" cy="146304"/>
          </a:xfrm>
          <a:prstGeom prst="ellipse">
            <a:avLst/>
          </a:prstGeom>
          <a:solidFill>
            <a:srgbClr val="3CC98D"/>
          </a:solidFill>
          <a:ln/>
        </p:spPr>
      </p:sp>
      <p:sp>
        <p:nvSpPr>
          <p:cNvPr id="20" name="Shape 18"/>
          <p:cNvSpPr/>
          <p:nvPr/>
        </p:nvSpPr>
        <p:spPr>
          <a:xfrm>
            <a:off x="576072" y="3259836"/>
            <a:ext cx="0" cy="379476"/>
          </a:xfrm>
          <a:prstGeom prst="line">
            <a:avLst/>
          </a:prstGeom>
          <a:noFill/>
          <a:ln w="12700">
            <a:solidFill>
              <a:srgbClr val="303B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30403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3CC9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SUN 09:00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1874520" y="30129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two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566160" y="301294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in, spoken answers out, local index remembering across documents. Full loop.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3639312"/>
            <a:ext cx="146304" cy="146304"/>
          </a:xfrm>
          <a:prstGeom prst="ellipse">
            <a:avLst/>
          </a:prstGeom>
          <a:solidFill>
            <a:srgbClr val="FF6A1A"/>
          </a:solidFill>
          <a:ln/>
        </p:spPr>
      </p:sp>
      <p:sp>
        <p:nvSpPr>
          <p:cNvPr id="25" name="Shape 23"/>
          <p:cNvSpPr/>
          <p:nvPr/>
        </p:nvSpPr>
        <p:spPr>
          <a:xfrm>
            <a:off x="576072" y="3785616"/>
            <a:ext cx="0" cy="379476"/>
          </a:xfrm>
          <a:prstGeom prst="line">
            <a:avLst/>
          </a:prstGeom>
          <a:noFill/>
          <a:ln w="12700">
            <a:solidFill>
              <a:srgbClr val="303B4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" y="35661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FF6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SUN 12:00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1874520" y="35387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 port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566160" y="35387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model moved to QNN for latency and for the technical-depth points. Fallback path stays in the build.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2920" y="4165092"/>
            <a:ext cx="146304" cy="146304"/>
          </a:xfrm>
          <a:prstGeom prst="ellipse">
            <a:avLst/>
          </a:prstGeom>
          <a:solidFill>
            <a:srgbClr val="3CC98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960" y="40919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3CC9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SUN 15:00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1874520" y="40645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pitch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3566160" y="406450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Airplane mode on, byte counter up, four beats rehearsed twice.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57200" y="4590288"/>
            <a:ext cx="8229600" cy="384048"/>
          </a:xfrm>
          <a:prstGeom prst="roundRect">
            <a:avLst>
              <a:gd name="adj" fmla="val 9524"/>
            </a:avLst>
          </a:prstGeom>
          <a:solidFill>
            <a:srgbClr val="1A212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8368" y="466344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if two-way clipboard is unavailable on the loaner, the Office Kit shared folder carries the same loop with no change to the pitch.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Sidecar</dc:title>
  <dc:subject>PptxGenJS Presentation</dc:subject>
  <dc:creator>Team Edge Runner</dc:creator>
  <cp:lastModifiedBy>Team Edge Runner</cp:lastModifiedBy>
  <cp:revision>1</cp:revision>
  <dcterms:created xsi:type="dcterms:W3CDTF">2026-09-16T11:12:17Z</dcterms:created>
  <dcterms:modified xsi:type="dcterms:W3CDTF">2026-09-16T11:12:17Z</dcterms:modified>
</cp:coreProperties>
</file>